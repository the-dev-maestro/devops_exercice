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Eco</a:t>
            </a:r>
            <a:r>
              <a:rPr sz="3200" b="1">
                <a:solidFill>
                  <a:srgbClr val="F97316"/>
                </a:solidFill>
              </a:rPr>
              <a:t>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Gestion Durable des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Dechets Urbains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Plateforme connectee et optimisee pour transformer l'assainissement urbain au Cameroun.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ACC15"/>
                </a:solidFill>
              </a:defRPr>
            </a:pPr>
            <a:r>
              <a:t>Orange Summer Challenge 2026 - Douala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2743200"/>
          </a:xfrm>
          <a:prstGeom prst="round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Projet Pilote</a:t>
            </a:r>
          </a:p>
          <a:p>
            <a:pPr algn="ctr">
              <a:defRPr sz="1400">
                <a:solidFill>
                  <a:srgbClr val="AAAAAA"/>
                </a:solidFill>
              </a:defRPr>
            </a:pPr>
            <a:r>
              <a:t>Specifications Techniques et Fonctionnelles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LE PROBLEME : LA CRISE DES DECHETS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5029200" cy="10972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97316"/>
                </a:solidFill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des dechets solides restes non collectes au Cameroun.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Consequences directes :</a:t>
            </a:r>
          </a:p>
          <a:p>
            <a:pPr>
              <a:defRPr sz="1400">
                <a:solidFill>
                  <a:srgbClr val="1F2D1F"/>
                </a:solidFill>
              </a:defRPr>
            </a:pPr>
            <a:r>
              <a:t>Les caniveaux bouches provoquent de graves inondations recurrentes a Douala et Yaounde, empechant de nombreux enfants d'acceder a l'ecole.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D1F"/>
                </a:solidFill>
              </a:rPr>
              <a:t>Logistique aveugle : </a:t>
            </a:r>
            <a:r>
              <a:rPr sz="1400">
                <a:solidFill>
                  <a:srgbClr val="1F2D1F"/>
                </a:solidFill>
              </a:rPr>
              <a:t>Les camions d'Hysacam effectuent des tournees sans aucune donnee en temps reel, entrainant la proliferation de decharges sauvages.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LA SOLUTION : L'ECOSYSTEME ECOTRACK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D1F"/>
                </a:solidFill>
              </a:rPr>
              <a:t>Une plateforme </a:t>
            </a:r>
            <a:r>
              <a:rPr sz="1800" b="1">
                <a:solidFill>
                  <a:srgbClr val="22C55E"/>
                </a:solidFill>
              </a:rPr>
              <a:t>tripartite innovante</a:t>
            </a:r>
            <a:r>
              <a:rPr sz="1800">
                <a:solidFill>
                  <a:srgbClr val="1F2D1F"/>
                </a:solidFill>
              </a:rPr>
              <a:t> connectant les acteurs cles de l'environnement urbain pour une efficacite absolue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200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Citoyens Actifs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Les citoyens se transforment en capteurs urbains en signalant et geolocalisant les depots via leur smartphone en quelques secondes.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200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66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Collecteurs Optimises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Les agents recoivent des feuilles de route dynamiques calculees pour minimiser les trajets d'intervention.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743200"/>
            <a:ext cx="3200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Communes Avisees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Les administrations centralisent les alertes, pilotent les equipes de collecte et visualisent la reduction de l'empreinte carbone.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SIGNALEMENT CITOYEN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En 30 secondes chrono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D1F"/>
                </a:solidFill>
              </a:defRPr>
            </a:pPr>
            <a:r>
              <a:t>Grace a un systeme de geolocalisation simple, l'utilisateur prend une photo et signale un point noir. La position GPS exacte et l'image sont envoyees instantanement sur notre base de donnees.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14800"/>
            <a:ext cx="5029200" cy="1097280"/>
          </a:xfrm>
          <a:prstGeom prst="roundRect">
            <a:avLst/>
          </a:prstGeom>
          <a:solidFill>
            <a:srgbClr val="ECF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6A34A"/>
                </a:solidFill>
              </a:defRPr>
            </a:pPr>
            <a:r>
              <a:t>"Chaque signalement permet d'actualiser la carte dynamique consultee par les communes et partenaires logistiques."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3200400" cy="4572000"/>
          </a:xfrm>
          <a:prstGeom prst="roundRect">
            <a:avLst/>
          </a:prstGeom>
          <a:solidFill>
            <a:srgbClr val="F0F8F0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2C55E"/>
                </a:solidFill>
              </a:defRPr>
            </a:pPr>
            <a:r>
              <a:t>📱 Signaler</a:t>
            </a:r>
          </a:p>
          <a:p>
            <a:pPr algn="ctr">
              <a:defRPr sz="1600">
                <a:solidFill>
                  <a:srgbClr val="6B7B6B"/>
                </a:solidFill>
              </a:defRPr>
            </a:pPr>
            <a:r>
              <a:t>📍 GPS +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ITINERAIRES LOGISTIQUES OPTIMISES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Algorithme TSP &amp; Carbone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D1F"/>
                </a:solidFill>
              </a:rPr>
              <a:t>Le moteur d'itineraire resout le </a:t>
            </a:r>
            <a:r>
              <a:rPr sz="1600" b="1">
                <a:solidFill>
                  <a:srgbClr val="1F2D1F"/>
                </a:solidFill>
              </a:rPr>
              <a:t>probleme du voyageur de commerce (TSP)</a:t>
            </a:r>
            <a:r>
              <a:rPr sz="1600">
                <a:solidFill>
                  <a:srgbClr val="1F2D1F"/>
                </a:solidFill>
              </a:rPr>
              <a:t> pour generer la trajectoire la plus economique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8404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40233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Moteur d'itineraires :</a:t>
            </a:r>
          </a:p>
          <a:p>
            <a:pPr>
              <a:defRPr sz="1300">
                <a:solidFill>
                  <a:srgbClr val="1F2D1F"/>
                </a:solidFill>
              </a:defRPr>
            </a:pPr>
            <a:r>
              <a:t>Nous utilisons le couplage puissant de OpenStreetMap et OSRM (Open Source Routing Machine) pour une flexibilite totale.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A34A"/>
                </a:solidFill>
              </a:rPr>
              <a:t>Reduction des emissions : </a:t>
            </a:r>
            <a:r>
              <a:rPr sz="1400">
                <a:solidFill>
                  <a:srgbClr val="1F2D1F"/>
                </a:solidFill>
              </a:rPr>
              <a:t>Moins de distances parcourues = moins de CO2 rejete a Douala.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4572000" cy="4572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6A34A"/>
                </a:solidFill>
              </a:defRPr>
            </a:pPr>
            <a:r>
              <a:t>🗺 Carte Dynamique</a:t>
            </a:r>
          </a:p>
          <a:p>
            <a:pPr algn="ctr">
              <a:defRPr sz="1400">
                <a:solidFill>
                  <a:srgbClr val="6B7B6B"/>
                </a:solidFill>
              </a:defRPr>
            </a:pPr>
            <a:r>
              <a:t>Itineraires optimises en temps reel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SYSTEME DE POINTS &amp;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D1F"/>
                </a:solidFill>
              </a:defRPr>
            </a:pPr>
            <a:r>
              <a:t>Mecanique Incitative Reelle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D1F"/>
                </a:solidFill>
              </a:defRPr>
            </a:pPr>
            <a:r>
              <a:t>EcoTrack transforme le civisme en gains financiers directs. Les points recoltes sont echangeables en credits de communication Orange, MTN et Camtel.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40480"/>
            <a:ext cx="5029200" cy="1188720"/>
          </a:xfrm>
          <a:prstGeom prst="roundRect">
            <a:avLst/>
          </a:prstGeom>
          <a:solidFill>
            <a:srgbClr val="F0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Calcul dynamique des points :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Points = (Note x Coeff_Impact) + Bonus_Engagement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B6B"/>
                </a:solidFill>
              </a:defRPr>
            </a:pPr>
            <a:r>
              <a:t>* Les coefficients varient selon la valeur ecologique (ex: compostage, ramassage plastique).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41148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500 FCFA</a:t>
            </a:r>
          </a:p>
          <a:p>
            <a:pPr algn="ctr">
              <a:defRPr sz="1600" b="1">
                <a:solidFill>
                  <a:srgbClr val="16A34A"/>
                </a:solidFill>
              </a:defRPr>
            </a:pPr>
            <a:r>
              <a:t>Palier minimal de rachat</a:t>
            </a:r>
          </a:p>
          <a:p>
            <a:pPr algn="ctr">
              <a:defRPr sz="1300">
                <a:solidFill>
                  <a:srgbClr val="6B7B6B"/>
                </a:solidFill>
              </a:defRPr>
            </a:pPr>
            <a:r>
              <a:t>Convertible automatiquement et envoye par notification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DIFFERENCIATION : NOTRE FORCE UNIQUE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Cartographie Souple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Adaptee au reseau routier informel de Douala et Yaounde via OpenStreetMap, la ou Google Maps echoue souvent ou coute trop cher.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Gains Reels vs Badges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566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Nous offrons du credit de communication concret au lieu de simples badges virtuels, repondant a un besoin essentiel quotidien.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Zero Dependance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566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B6B"/>
                </a:solidFill>
              </a:defRPr>
            </a:pPr>
            <a:r>
              <a:t>Solution autonome et economique n'utilisant aucune cle de facturation API externe couteuse et risquant des suspensions brutales.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BUSINESS MODEL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MTN, Orange, Camtel (Operateurs), Hysacam, Communes, OpenStreetMap.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ACTIVITES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Maintenance technique, routage algorithmique, moderation, distribution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2743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9202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PROPOSITION VALEUR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2860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Pour Citoyens : Signalement ludique, recompenses directes.</a:t>
            </a:r>
            <a:br/>
            <a:r>
              <a:t>Pour Collecteurs : Reduction drastique des temps de trajet et du CO2.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828800"/>
            <a:ext cx="2743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9202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860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Urbains connectes : Citoyens actifs au Cameroun.</a:t>
            </a:r>
            <a:br/>
            <a:r>
              <a:t>Organismes : Communes urbaines, sous-traitants de collecte.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RESSOURCES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Algorithme TSP, base de donnees OSM, equipe technique, plateforme web/mobile.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1148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CANAUX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Application web responsive, reseaux sociaux, partenariats B2G/B2B de proximite.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6072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STRUCTURE DE COUTS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17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Maintenance infrastructure cloud, budget d'achat de credits telephoniques, communication locale.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76072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8521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SOURCES DE REVENUS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6217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D1F"/>
                </a:solidFill>
              </a:defRPr>
            </a:pPr>
            <a:r>
              <a:t>Abonnements des communes (CTD), contrats pros avec entreprises de collecte, subventions climatiques.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ARCHITECTURE &amp; 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D1F"/>
                </a:solidFill>
              </a:rPr>
              <a:t>Une architecture </a:t>
            </a:r>
            <a:r>
              <a:rPr sz="1800" b="1">
                <a:solidFill>
                  <a:srgbClr val="22C55E"/>
                </a:solidFill>
              </a:rPr>
              <a:t>robuste et evolutive</a:t>
            </a:r>
            <a:r>
              <a:rPr sz="1800">
                <a:solidFill>
                  <a:srgbClr val="1F2D1F"/>
                </a:solidFill>
              </a:rPr>
              <a:t>, concue avec les technologies modernes les plus performantes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260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Next.js 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B6B"/>
                </a:solidFill>
              </a:defRPr>
            </a:pPr>
            <a:r>
              <a:t>Framework moderne et rapide pour des chargements instantanes.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9260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Prisma &amp;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114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B6B"/>
                </a:solidFill>
              </a:defRPr>
            </a:pPr>
            <a:r>
              <a:t>Base de donnees relationnelle hautement securisee.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9260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Leaflet &amp; OSM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4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B6B"/>
                </a:solidFill>
              </a:defRPr>
            </a:pPr>
            <a:r>
              <a:t>Cartographie reactive sans frais de licence.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9260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OSRM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4114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B6B"/>
                </a:solidFill>
              </a:defRPr>
            </a:pPr>
            <a:r>
              <a:t>Calcul d'itineraire haute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UNE EQUIPE COMPLETE &amp; PASSIONNEE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1F"/>
                </a:solidFill>
              </a:defRPr>
            </a:pPr>
            <a:r>
              <a:t>Concepteurs Independants de A a Z</a:t>
            </a:r>
          </a:p>
          <a:p/>
          <a:p>
            <a:r>
              <a:rPr sz="1600">
                <a:solidFill>
                  <a:srgbClr val="1F2D1F"/>
                </a:solidFill>
              </a:rPr>
              <a:t>Composee de </a:t>
            </a:r>
            <a:r>
              <a:rPr sz="1600" b="1">
                <a:solidFill>
                  <a:srgbClr val="F97316"/>
                </a:solidFill>
              </a:rPr>
              <a:t>4 etudiants camerounais</a:t>
            </a:r>
            <a:r>
              <a:rPr sz="1600">
                <a:solidFill>
                  <a:srgbClr val="1F2D1F"/>
                </a:solidFill>
              </a:rPr>
              <a:t>, notre equipe unit ses forces pour le developpement et la mise en oeuvre de la solution a Douala.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14800"/>
            <a:ext cx="5029200" cy="10972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F2D1F"/>
                </a:solidFill>
              </a:defRPr>
            </a:pPr>
            <a:r>
              <a:t>"Innover pour preserver la sante publique et notre environnement urbain camerounais."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0" y="1828800"/>
            <a:ext cx="914400" cy="914400"/>
          </a:xfrm>
          <a:prstGeom prst="ellipse">
            <a:avLst/>
          </a:prstGeom>
          <a:solidFill>
            <a:srgbClr val="16A34A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9659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D1F"/>
                </a:solidFill>
              </a:defRPr>
            </a:pPr>
            <a:r>
              <a:t>Klein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Developpeur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40" y="1828800"/>
            <a:ext cx="914400" cy="914400"/>
          </a:xfrm>
          <a:prstGeom prst="ellipse">
            <a:avLst/>
          </a:prstGeom>
          <a:solidFill>
            <a:srgbClr val="16A34A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9659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346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D1F"/>
                </a:solidFill>
              </a:defRPr>
            </a:pPr>
            <a:r>
              <a:t>Eunice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UX/UI Designer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114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0" y="4297680"/>
            <a:ext cx="914400" cy="914400"/>
          </a:xfrm>
          <a:prstGeom prst="ellipse">
            <a:avLst/>
          </a:prstGeom>
          <a:solidFill>
            <a:srgbClr val="16A34A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4348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303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D1F"/>
                </a:solidFill>
              </a:defRPr>
            </a:pPr>
            <a:r>
              <a:t>Lethicia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Data Analyst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14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4297680"/>
            <a:ext cx="914400" cy="914400"/>
          </a:xfrm>
          <a:prstGeom prst="ellipse">
            <a:avLst/>
          </a:prstGeom>
          <a:solidFill>
            <a:srgbClr val="16A34A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4348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303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D1F"/>
                </a:solidFill>
              </a:defRPr>
            </a:pPr>
            <a:r>
              <a:t>Parker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669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Product 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73152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A34A"/>
                </a:solidFill>
              </a:defRPr>
            </a:pPr>
            <a:r>
              <a:t>VISION D'EXPANSION REGIONALE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2560320" cy="32004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DD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83464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F2D1F"/>
                </a:solidFill>
              </a:defRPr>
            </a:pPr>
            <a:r>
              <a:t>Phase pilote de lancement a Douala (arrondissement de Douala 5eme).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743200"/>
            <a:ext cx="2560320" cy="32004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DD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283464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Q1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F2D1F"/>
                </a:solidFill>
              </a:defRPr>
            </a:pPr>
            <a:r>
              <a:t>Deploiement generalise et partenariats avec la ville de Yaounde.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43200"/>
            <a:ext cx="2560320" cy="32004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DD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0" y="283464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Q4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F2D1F"/>
                </a:solidFill>
              </a:defRPr>
            </a:pPr>
            <a:r>
              <a:t>Lancement dans les villes secondaires du Cameroun (Garoua, Bafoussam).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743200"/>
            <a:ext cx="2560320" cy="32004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DD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0" y="283464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Horizon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F2D1F"/>
                </a:solidFill>
              </a:defRPr>
            </a:pPr>
            <a:r>
              <a:t>S'etendre a 5 grandes metropoles d'Afrique centrale.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"Cet enfant qui ne peut pas traverser sa rue certains matins a cause des ordures -- avec EcoTrack, demain il traverse."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29200"/>
            <a:ext cx="548640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EcoTrack, vers une ville plus propre.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Pourquoi EcoTrack merite de gagner :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  Innovation reelle et differenciante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  Impact environnemental mesurable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  Faisabilite technique prouvee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  Business model viable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  Equipe complementaire et motivee</a:t>
            </a:r>
          </a:p>
          <a:p/>
          <a:p>
            <a:pPr>
              <a:defRPr sz="1300" i="1">
                <a:solidFill>
                  <a:srgbClr val="FACC15"/>
                </a:solidFill>
              </a:defRPr>
            </a:pPr>
            <a:r>
              <a:t>"Ensemble, transformons nos villes en modeles d'ecologie citoyenne 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